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837501-BD6E-4904-8F08-72E6BFCF2691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2109F8-C4AE-4734-8A0E-970990FE61B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34C6C1-B389-4689-81D3-0A9F16D253B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891146-D184-4C3E-8E6E-96271FDF748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1067B2-50D6-4738-8700-B76BF07AFD2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CEFD2C-8848-4291-8E19-F043C567FA0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677278-62F3-4BF5-8055-16651D08CF3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3A7533-781A-4E97-8D3C-41C4DE763B2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D9EAC0-297C-41E6-A040-C492956A0C4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74CE29-B543-46F0-9D79-F581B198126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28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0"/>
          <p:cNvSpPr/>
          <p:nvPr/>
        </p:nvSpPr>
        <p:spPr>
          <a:xfrm>
            <a:off x="837720" y="1538640"/>
            <a:ext cx="7468200" cy="21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Fake Indian Currency Note Detection using Image Processing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837720" y="4009680"/>
            <a:ext cx="746820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This presentation delves into an AI-driven approach to detect counterfeit Indian currency, focused on ₹500 and ₹2000 notes. Employing advanced image processing techniques and computer vision algorithms, the project aims to equip users outside formal banking environments with a reliable tool to distinguish fake notes swiftly and accurately. Using Python and OpenCV, it leverages both classical feature extraction and image comparison methods to address this critical security challenge.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0"/>
          <p:cNvSpPr/>
          <p:nvPr/>
        </p:nvSpPr>
        <p:spPr>
          <a:xfrm>
            <a:off x="837720" y="918360"/>
            <a:ext cx="7468200" cy="11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00"/>
              </a:lnSpc>
              <a:tabLst>
                <a:tab algn="l" pos="0"/>
              </a:tabLst>
            </a:pPr>
            <a:r>
              <a:rPr b="0" lang="en-US" sz="375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Project Objectives &amp; Technological Framework</a:t>
            </a:r>
            <a:endParaRPr b="0" lang="en-IN" sz="3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837720" y="2420280"/>
            <a:ext cx="7468200" cy="1946520"/>
          </a:xfrm>
          <a:prstGeom prst="roundRect">
            <a:avLst>
              <a:gd name="adj" fmla="val 1568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1041120" y="2623680"/>
            <a:ext cx="239328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Core Objectives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1041120" y="304488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Automate counterfeit note detection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041120" y="344160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High accuracy with fast processing time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041120" y="383832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User-friendly interface for accessibility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837720" y="4570560"/>
            <a:ext cx="7468200" cy="2739960"/>
          </a:xfrm>
          <a:prstGeom prst="roundRect">
            <a:avLst>
              <a:gd name="adj" fmla="val 1114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1041120" y="4773960"/>
            <a:ext cx="291456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Technologies &amp; Tools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1041120" y="519516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Python programming language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1041120" y="559188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OpenCV for image processing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1041120" y="598860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ORB Detector for feature extraction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1041120" y="638532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SSIM, Gaussian Blur, thresholding techniques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1041120" y="6782040"/>
            <a:ext cx="7061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Implementations inside jupyter Notebook environment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0"/>
          <p:cNvSpPr/>
          <p:nvPr/>
        </p:nvSpPr>
        <p:spPr>
          <a:xfrm>
            <a:off x="6324120" y="981000"/>
            <a:ext cx="7468200" cy="11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Literature Review and Comparative Analysis</a:t>
            </a:r>
            <a:endParaRPr b="0" lang="en-IN" sz="3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6324120" y="2394720"/>
            <a:ext cx="7468200" cy="4853520"/>
          </a:xfrm>
          <a:prstGeom prst="roundRect">
            <a:avLst>
              <a:gd name="adj" fmla="val 592"/>
            </a:avLst>
          </a:prstGeom>
          <a:noFill/>
          <a:ln w="7620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6331680" y="2402280"/>
            <a:ext cx="7453080" cy="5508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6523200" y="252468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Author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8390160" y="252468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Approach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10253520" y="252468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Key Points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2116880" y="252468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Limitations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331680" y="2953440"/>
            <a:ext cx="7453080" cy="8571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6523200" y="307620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Darade [1]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8390160" y="307620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Feature Extraction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10253520" y="307620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Low cost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12116880" y="3076200"/>
            <a:ext cx="1476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Needs external camera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6331680" y="3810960"/>
            <a:ext cx="7453080" cy="8571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6523200" y="393372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Yadav &amp; Patil [2]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8390160" y="393372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HSV + MATLAB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10253520" y="3933720"/>
            <a:ext cx="147240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Efficient detection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12116880" y="3933720"/>
            <a:ext cx="1476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Requires full setup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331680" y="4668480"/>
            <a:ext cx="7453080" cy="8571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6523200" y="479124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Zarin &amp; Uddin [3]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8390160" y="479124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OCR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10253520" y="4791240"/>
            <a:ext cx="147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93.3% accuracy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12116880" y="4791240"/>
            <a:ext cx="1476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Complex implementation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6331680" y="5526000"/>
            <a:ext cx="7453080" cy="8571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6523200" y="564840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Veling [4]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8390160" y="5648400"/>
            <a:ext cx="147240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Hyperspectral Imaging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10253520" y="5648400"/>
            <a:ext cx="147240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Dual method effectiveness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12116880" y="5648400"/>
            <a:ext cx="1476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High cost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7"/>
          <p:cNvSpPr/>
          <p:nvPr/>
        </p:nvSpPr>
        <p:spPr>
          <a:xfrm>
            <a:off x="6331680" y="6383520"/>
            <a:ext cx="7453080" cy="8571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8"/>
          <p:cNvSpPr/>
          <p:nvPr/>
        </p:nvSpPr>
        <p:spPr>
          <a:xfrm>
            <a:off x="6523200" y="6505920"/>
            <a:ext cx="1476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Mangayarkarasi et al. [5]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9"/>
          <p:cNvSpPr/>
          <p:nvPr/>
        </p:nvSpPr>
        <p:spPr>
          <a:xfrm>
            <a:off x="8390160" y="6505920"/>
            <a:ext cx="147240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Feature extraction + voice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0"/>
          <p:cNvSpPr/>
          <p:nvPr/>
        </p:nvSpPr>
        <p:spPr>
          <a:xfrm>
            <a:off x="10253520" y="6505920"/>
            <a:ext cx="147240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Good for visually impaired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1"/>
          <p:cNvSpPr/>
          <p:nvPr/>
        </p:nvSpPr>
        <p:spPr>
          <a:xfrm>
            <a:off x="12116880" y="6505920"/>
            <a:ext cx="1476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Fails on damaged notes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837720" y="1882440"/>
            <a:ext cx="129546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Key Security Features for Note Authentication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837720" y="3888720"/>
            <a:ext cx="2815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Visual Features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837720" y="448020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Bleed Lines (5 on ₹500, 7 on ₹2000)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837720" y="494676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Security Thread with color shift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837720" y="541368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Watermark (Gandhi + numeral)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837720" y="588024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Latent Image (denomination at angle)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7614720" y="3888720"/>
            <a:ext cx="320148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Additional Markers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7614720" y="448020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Number Panel with 9-digit serial number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7614720" y="494676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RBI Seal and Ashoka Pillar emblem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7614720" y="5413680"/>
            <a:ext cx="6185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999"/>
              </a:lnSpc>
              <a:buClr>
                <a:srgbClr val="cad6de"/>
              </a:buClr>
              <a:buFont typeface="Symbol" charset="2"/>
              <a:buChar char=""/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Denominational script in English &amp; Devanagari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0"/>
          <p:cNvSpPr/>
          <p:nvPr/>
        </p:nvSpPr>
        <p:spPr>
          <a:xfrm>
            <a:off x="837720" y="1476000"/>
            <a:ext cx="74682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0" lang="en-US" sz="285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Methodology and Algorithmic Approach</a:t>
            </a:r>
            <a:endParaRPr b="0" lang="en-IN" sz="2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2"/>
          <a:stretch/>
        </p:blipFill>
        <p:spPr>
          <a:xfrm>
            <a:off x="837720" y="2624400"/>
            <a:ext cx="777600" cy="113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"/>
          <p:cNvSpPr/>
          <p:nvPr/>
        </p:nvSpPr>
        <p:spPr>
          <a:xfrm>
            <a:off x="1848960" y="2779920"/>
            <a:ext cx="1910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Dataset Creation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848960" y="3102120"/>
            <a:ext cx="645696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Collect real and fake ₹500 &amp; ₹2000 note images under varying illumination and perspectives for robust training.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3"/>
          <a:stretch/>
        </p:blipFill>
        <p:spPr>
          <a:xfrm>
            <a:off x="837720" y="3755520"/>
            <a:ext cx="777600" cy="113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3"/>
          <p:cNvSpPr/>
          <p:nvPr/>
        </p:nvSpPr>
        <p:spPr>
          <a:xfrm>
            <a:off x="1848960" y="3911040"/>
            <a:ext cx="330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Algorithm 1: Feature Detection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1848960" y="4232880"/>
            <a:ext cx="645696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Use ORB detector with Gaussian Blur and grayscale preprocessing; compare features via SSIM score for similarity assessment.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837720" y="4886280"/>
            <a:ext cx="77760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5"/>
          <p:cNvSpPr/>
          <p:nvPr/>
        </p:nvSpPr>
        <p:spPr>
          <a:xfrm>
            <a:off x="1848960" y="5041800"/>
            <a:ext cx="361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Algorithm 2: Bleed Line Detection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1848960" y="5364000"/>
            <a:ext cx="645696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Apply thresholding and contour analysis to count bleed lines accurately as a signature feature.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837720" y="5820120"/>
            <a:ext cx="77760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1848960" y="5975640"/>
            <a:ext cx="425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Algorithm 3: Number Panel Recognition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1848960" y="6297480"/>
            <a:ext cx="645696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Thresholding followed by character count verification ensures authenticity of serial numbers.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67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0"/>
          <p:cNvSpPr/>
          <p:nvPr/>
        </p:nvSpPr>
        <p:spPr>
          <a:xfrm>
            <a:off x="830880" y="3323520"/>
            <a:ext cx="1243692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901"/>
              </a:lnSpc>
              <a:tabLst>
                <a:tab algn="l" pos="0"/>
              </a:tabLst>
            </a:pPr>
            <a:r>
              <a:rPr b="0" lang="en-US" sz="395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System Workflow for Real-Time Detection</a:t>
            </a:r>
            <a:endParaRPr b="0" lang="en-IN" sz="3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830880" y="5233680"/>
            <a:ext cx="3001320" cy="213120"/>
          </a:xfrm>
          <a:prstGeom prst="roundRect">
            <a:avLst>
              <a:gd name="adj" fmla="val 15005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830880" y="5767560"/>
            <a:ext cx="26668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Image Acquisition</a:t>
            </a:r>
            <a:endParaRPr b="0" lang="en-IN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830880" y="6210000"/>
            <a:ext cx="300132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Capture high-quality images of notes using a standard camera or smartphone under controlled lighting.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4152960" y="4913280"/>
            <a:ext cx="3001680" cy="213120"/>
          </a:xfrm>
          <a:prstGeom prst="roundRect">
            <a:avLst>
              <a:gd name="adj" fmla="val 15005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4152960" y="5447160"/>
            <a:ext cx="2513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Preprocessing</a:t>
            </a:r>
            <a:endParaRPr b="0" lang="en-IN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4152960" y="5889240"/>
            <a:ext cx="300168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Standardize image size, apply Gaussian Blur to reduce noise, and convert to grayscale for processing.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7475400" y="4592520"/>
            <a:ext cx="3001680" cy="213120"/>
          </a:xfrm>
          <a:prstGeom prst="roundRect">
            <a:avLst>
              <a:gd name="adj" fmla="val 15005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475400" y="5126760"/>
            <a:ext cx="300168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Feature Detection &amp; Matching</a:t>
            </a:r>
            <a:endParaRPr b="0" lang="en-IN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475400" y="5882760"/>
            <a:ext cx="300168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Execute ORB-based feature extraction, match with templates, and compute SSIM for similarity scoring.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10797480" y="4272120"/>
            <a:ext cx="3001680" cy="213120"/>
          </a:xfrm>
          <a:prstGeom prst="roundRect">
            <a:avLst>
              <a:gd name="adj" fmla="val 15005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10797480" y="4806360"/>
            <a:ext cx="2513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Final Decision</a:t>
            </a:r>
            <a:endParaRPr b="0" lang="en-IN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10797480" y="5248440"/>
            <a:ext cx="300168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Integrate bleed line count and number panel checks; classify note as real or fake through combined score analysis.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5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0"/>
          <p:cNvSpPr/>
          <p:nvPr/>
        </p:nvSpPr>
        <p:spPr>
          <a:xfrm>
            <a:off x="837720" y="3226680"/>
            <a:ext cx="58024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00"/>
              </a:lnSpc>
              <a:tabLst>
                <a:tab algn="l" pos="0"/>
              </a:tabLst>
            </a:pPr>
            <a:r>
              <a:rPr b="0" lang="en-US" sz="375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Evaluation &amp; Results</a:t>
            </a:r>
            <a:endParaRPr b="0" lang="en-IN" sz="3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2"/>
          <a:stretch/>
        </p:blipFill>
        <p:spPr>
          <a:xfrm>
            <a:off x="837720" y="4165920"/>
            <a:ext cx="508320" cy="50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"/>
          <p:cNvSpPr/>
          <p:nvPr/>
        </p:nvSpPr>
        <p:spPr>
          <a:xfrm>
            <a:off x="1549800" y="4250880"/>
            <a:ext cx="239328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High Accuracy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549800" y="4672080"/>
            <a:ext cx="122425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Consistent identification of counterfeit notes across multiple lighting conditions and note orientations.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2" descr="preencoded.png"/>
          <p:cNvPicPr/>
          <p:nvPr/>
        </p:nvPicPr>
        <p:blipFill>
          <a:blip r:embed="rId3"/>
          <a:stretch/>
        </p:blipFill>
        <p:spPr>
          <a:xfrm>
            <a:off x="837720" y="5439960"/>
            <a:ext cx="508320" cy="50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3"/>
          <p:cNvSpPr/>
          <p:nvPr/>
        </p:nvSpPr>
        <p:spPr>
          <a:xfrm>
            <a:off x="1549800" y="5525280"/>
            <a:ext cx="239328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Fast Processing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1549800" y="5946480"/>
            <a:ext cx="122425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Real-time or near real-time validation without reliance on specialized hardware.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3" descr="preencoded.png"/>
          <p:cNvPicPr/>
          <p:nvPr/>
        </p:nvPicPr>
        <p:blipFill>
          <a:blip r:embed="rId4"/>
          <a:stretch/>
        </p:blipFill>
        <p:spPr>
          <a:xfrm>
            <a:off x="837720" y="6714360"/>
            <a:ext cx="508320" cy="50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5"/>
          <p:cNvSpPr/>
          <p:nvPr/>
        </p:nvSpPr>
        <p:spPr>
          <a:xfrm>
            <a:off x="1549800" y="6799680"/>
            <a:ext cx="270540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Public Accessibility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549800" y="7220880"/>
            <a:ext cx="122425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Designed for ease of use by common people outside banking sectors via an intuitive interface.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0"/>
          <p:cNvSpPr/>
          <p:nvPr/>
        </p:nvSpPr>
        <p:spPr>
          <a:xfrm>
            <a:off x="6324120" y="897480"/>
            <a:ext cx="7468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Conclusions and Future Directions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6324120" y="2664360"/>
            <a:ext cx="538200" cy="5382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7102080" y="2746800"/>
            <a:ext cx="28065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Project Impact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7102080" y="3242160"/>
            <a:ext cx="2806560" cy="19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The project provides a scalable, low-cost counterfeit detection solution enabling safer cash transactions.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10208160" y="2664360"/>
            <a:ext cx="538200" cy="5382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0985760" y="2746800"/>
            <a:ext cx="28065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Potential Improvements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10985760" y="3594240"/>
            <a:ext cx="2806560" cy="19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Integration of OCR for serial number recognition, deep learning classifiers, and mobile app deployment for broader adoption.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6324120" y="5988240"/>
            <a:ext cx="538200" cy="53820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7102080" y="6070320"/>
            <a:ext cx="2815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Next Steps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7102080" y="6566040"/>
            <a:ext cx="669024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cad6de"/>
                </a:solidFill>
                <a:effectLst/>
                <a:uFillTx/>
                <a:latin typeface="Cabin"/>
                <a:ea typeface="Cabin"/>
              </a:rPr>
              <a:t>Expanding dataset diversity, user testing, and integration with banking and retail sectors for live validation.</a:t>
            </a:r>
            <a:endParaRPr b="0" lang="en-IN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0"/>
          <p:cNvSpPr/>
          <p:nvPr/>
        </p:nvSpPr>
        <p:spPr>
          <a:xfrm>
            <a:off x="837720" y="2633040"/>
            <a:ext cx="56322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99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Unbounded"/>
                <a:ea typeface="Unbounded"/>
              </a:rPr>
              <a:t>contributors: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837720" y="3696120"/>
            <a:ext cx="7468200" cy="830160"/>
          </a:xfrm>
          <a:prstGeom prst="roundRect">
            <a:avLst>
              <a:gd name="adj" fmla="val 4323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1077120" y="3935520"/>
            <a:ext cx="46605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Advik Tushir - E22CSEU1292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837720" y="4766040"/>
            <a:ext cx="7468200" cy="830160"/>
          </a:xfrm>
          <a:prstGeom prst="roundRect">
            <a:avLst>
              <a:gd name="adj" fmla="val 4323"/>
            </a:avLst>
          </a:prstGeom>
          <a:solidFill>
            <a:srgbClr val="3047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077120" y="5005440"/>
            <a:ext cx="467424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ad6de"/>
                </a:solidFill>
                <a:effectLst/>
                <a:uFillTx/>
                <a:latin typeface="Unbounded"/>
                <a:ea typeface="Unbounded"/>
              </a:rPr>
              <a:t>Ryaan Ajmal - E22CSEU1310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LibreOffice/25.2.2.2$Windows_X86_64 LibreOffice_project/7370d4be9e3cf6031a51beef54ff3bda878e3fac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2025-04-30T07:15:50Z</dcterms:created>
  <dc:creator>PptxGenJS</dc:creator>
  <dc:description/>
  <dc:language>en-IN</dc:language>
  <cp:lastModifiedBy/>
  <dcterms:modified xsi:type="dcterms:W3CDTF">2025-04-30T12:52:36Z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